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2" r:id="rId3"/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b86836187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b86836187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b9bf2fb02_0_2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b9bf2fb02_0_2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b957d5095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eb957d5095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b957d5095_0_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eb957d5095_0_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b9bf2fb02_0_1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b9bf2fb02_0_1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b86836187_0_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eb86836187_0_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b86836187_1_2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eb86836187_1_2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b86836187_1_5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eb86836187_1_5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b86836187_1_6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eb86836187_1_6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b86836187_1_7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eb86836187_1_7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b8a58446e_0_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eb8a58446e_0_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12040" y="1583640"/>
            <a:ext cx="11585880" cy="410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12040" y="1583640"/>
            <a:ext cx="11585880" cy="410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212040" y="1583640"/>
            <a:ext cx="5653800" cy="410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6148800" y="1583640"/>
            <a:ext cx="5653800" cy="410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" type="subTitle"/>
          </p:nvPr>
        </p:nvSpPr>
        <p:spPr>
          <a:xfrm>
            <a:off x="283320" y="186840"/>
            <a:ext cx="9344520" cy="456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212040" y="1583640"/>
            <a:ext cx="565380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2" type="body"/>
          </p:nvPr>
        </p:nvSpPr>
        <p:spPr>
          <a:xfrm>
            <a:off x="6148800" y="1583640"/>
            <a:ext cx="5653800" cy="410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3" type="body"/>
          </p:nvPr>
        </p:nvSpPr>
        <p:spPr>
          <a:xfrm>
            <a:off x="212040" y="3727080"/>
            <a:ext cx="565380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212040" y="1583640"/>
            <a:ext cx="5653800" cy="410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6148800" y="1583640"/>
            <a:ext cx="565380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3" type="body"/>
          </p:nvPr>
        </p:nvSpPr>
        <p:spPr>
          <a:xfrm>
            <a:off x="6148800" y="3727080"/>
            <a:ext cx="565380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212040" y="1583640"/>
            <a:ext cx="565380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6148800" y="1583640"/>
            <a:ext cx="565380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212040" y="3727080"/>
            <a:ext cx="1158588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212040" y="1583640"/>
            <a:ext cx="1158588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212040" y="3727080"/>
            <a:ext cx="1158588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212040" y="1583640"/>
            <a:ext cx="565380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6148800" y="1583640"/>
            <a:ext cx="565380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3" type="body"/>
          </p:nvPr>
        </p:nvSpPr>
        <p:spPr>
          <a:xfrm>
            <a:off x="212040" y="3727080"/>
            <a:ext cx="565380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4" type="body"/>
          </p:nvPr>
        </p:nvSpPr>
        <p:spPr>
          <a:xfrm>
            <a:off x="6148800" y="3727080"/>
            <a:ext cx="565380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212040" y="1583640"/>
            <a:ext cx="373032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4129200" y="1583640"/>
            <a:ext cx="373032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8046360" y="1583640"/>
            <a:ext cx="373032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4" type="body"/>
          </p:nvPr>
        </p:nvSpPr>
        <p:spPr>
          <a:xfrm>
            <a:off x="212040" y="3727080"/>
            <a:ext cx="373032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5" type="body"/>
          </p:nvPr>
        </p:nvSpPr>
        <p:spPr>
          <a:xfrm>
            <a:off x="4129200" y="3727080"/>
            <a:ext cx="373032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6" type="body"/>
          </p:nvPr>
        </p:nvSpPr>
        <p:spPr>
          <a:xfrm>
            <a:off x="8046360" y="3727080"/>
            <a:ext cx="373032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idx="11" type="ftr"/>
          </p:nvPr>
        </p:nvSpPr>
        <p:spPr>
          <a:xfrm>
            <a:off x="30492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  <p:sp>
        <p:nvSpPr>
          <p:cNvPr id="73" name="Google Shape;73;p15"/>
          <p:cNvSpPr txBox="1"/>
          <p:nvPr>
            <p:ph idx="10" type="dt"/>
          </p:nvPr>
        </p:nvSpPr>
        <p:spPr>
          <a:xfrm>
            <a:off x="467352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subTitle"/>
          </p:nvPr>
        </p:nvSpPr>
        <p:spPr>
          <a:xfrm>
            <a:off x="212040" y="1583640"/>
            <a:ext cx="11585880" cy="410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1" type="ftr"/>
          </p:nvPr>
        </p:nvSpPr>
        <p:spPr>
          <a:xfrm>
            <a:off x="30492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  <p:sp>
        <p:nvSpPr>
          <p:cNvPr id="79" name="Google Shape;79;p16"/>
          <p:cNvSpPr txBox="1"/>
          <p:nvPr>
            <p:ph idx="10" type="dt"/>
          </p:nvPr>
        </p:nvSpPr>
        <p:spPr>
          <a:xfrm>
            <a:off x="467352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212040" y="1583640"/>
            <a:ext cx="11585880" cy="410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1" type="ftr"/>
          </p:nvPr>
        </p:nvSpPr>
        <p:spPr>
          <a:xfrm>
            <a:off x="30492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  <p:sp>
        <p:nvSpPr>
          <p:cNvPr id="85" name="Google Shape;85;p17"/>
          <p:cNvSpPr txBox="1"/>
          <p:nvPr>
            <p:ph idx="10" type="dt"/>
          </p:nvPr>
        </p:nvSpPr>
        <p:spPr>
          <a:xfrm>
            <a:off x="467352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212040" y="1583640"/>
            <a:ext cx="5653800" cy="410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2" type="body"/>
          </p:nvPr>
        </p:nvSpPr>
        <p:spPr>
          <a:xfrm>
            <a:off x="6148800" y="1583640"/>
            <a:ext cx="5653800" cy="410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30492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  <p:sp>
        <p:nvSpPr>
          <p:cNvPr id="92" name="Google Shape;92;p18"/>
          <p:cNvSpPr txBox="1"/>
          <p:nvPr>
            <p:ph idx="10" type="dt"/>
          </p:nvPr>
        </p:nvSpPr>
        <p:spPr>
          <a:xfrm>
            <a:off x="467352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1" type="ftr"/>
          </p:nvPr>
        </p:nvSpPr>
        <p:spPr>
          <a:xfrm>
            <a:off x="30492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  <p:sp>
        <p:nvSpPr>
          <p:cNvPr id="97" name="Google Shape;97;p19"/>
          <p:cNvSpPr txBox="1"/>
          <p:nvPr>
            <p:ph idx="10" type="dt"/>
          </p:nvPr>
        </p:nvSpPr>
        <p:spPr>
          <a:xfrm>
            <a:off x="467352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idx="1" type="subTitle"/>
          </p:nvPr>
        </p:nvSpPr>
        <p:spPr>
          <a:xfrm>
            <a:off x="283320" y="186840"/>
            <a:ext cx="9344520" cy="456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1" type="ftr"/>
          </p:nvPr>
        </p:nvSpPr>
        <p:spPr>
          <a:xfrm>
            <a:off x="30492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  <p:sp>
        <p:nvSpPr>
          <p:cNvPr id="102" name="Google Shape;102;p20"/>
          <p:cNvSpPr txBox="1"/>
          <p:nvPr>
            <p:ph idx="10" type="dt"/>
          </p:nvPr>
        </p:nvSpPr>
        <p:spPr>
          <a:xfrm>
            <a:off x="467352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212040" y="1583640"/>
            <a:ext cx="565380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2" type="body"/>
          </p:nvPr>
        </p:nvSpPr>
        <p:spPr>
          <a:xfrm>
            <a:off x="6148800" y="1583640"/>
            <a:ext cx="5653800" cy="410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3" type="body"/>
          </p:nvPr>
        </p:nvSpPr>
        <p:spPr>
          <a:xfrm>
            <a:off x="212040" y="3727080"/>
            <a:ext cx="565380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11" type="ftr"/>
          </p:nvPr>
        </p:nvSpPr>
        <p:spPr>
          <a:xfrm>
            <a:off x="30492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  <p:sp>
        <p:nvSpPr>
          <p:cNvPr id="110" name="Google Shape;110;p21"/>
          <p:cNvSpPr txBox="1"/>
          <p:nvPr>
            <p:ph idx="10" type="dt"/>
          </p:nvPr>
        </p:nvSpPr>
        <p:spPr>
          <a:xfrm>
            <a:off x="467352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212040" y="1583640"/>
            <a:ext cx="5653800" cy="410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2" type="body"/>
          </p:nvPr>
        </p:nvSpPr>
        <p:spPr>
          <a:xfrm>
            <a:off x="6148800" y="1583640"/>
            <a:ext cx="565380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3" type="body"/>
          </p:nvPr>
        </p:nvSpPr>
        <p:spPr>
          <a:xfrm>
            <a:off x="6148800" y="3727080"/>
            <a:ext cx="565380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1" type="ftr"/>
          </p:nvPr>
        </p:nvSpPr>
        <p:spPr>
          <a:xfrm>
            <a:off x="30492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  <p:sp>
        <p:nvSpPr>
          <p:cNvPr id="118" name="Google Shape;118;p22"/>
          <p:cNvSpPr txBox="1"/>
          <p:nvPr>
            <p:ph idx="10" type="dt"/>
          </p:nvPr>
        </p:nvSpPr>
        <p:spPr>
          <a:xfrm>
            <a:off x="467352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212040" y="1583640"/>
            <a:ext cx="565380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2" type="body"/>
          </p:nvPr>
        </p:nvSpPr>
        <p:spPr>
          <a:xfrm>
            <a:off x="6148800" y="1583640"/>
            <a:ext cx="565380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3" type="body"/>
          </p:nvPr>
        </p:nvSpPr>
        <p:spPr>
          <a:xfrm>
            <a:off x="212040" y="3727080"/>
            <a:ext cx="1158588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3"/>
          <p:cNvSpPr txBox="1"/>
          <p:nvPr>
            <p:ph idx="11" type="ftr"/>
          </p:nvPr>
        </p:nvSpPr>
        <p:spPr>
          <a:xfrm>
            <a:off x="30492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3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  <p:sp>
        <p:nvSpPr>
          <p:cNvPr id="126" name="Google Shape;126;p23"/>
          <p:cNvSpPr txBox="1"/>
          <p:nvPr>
            <p:ph idx="10" type="dt"/>
          </p:nvPr>
        </p:nvSpPr>
        <p:spPr>
          <a:xfrm>
            <a:off x="467352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212040" y="1583640"/>
            <a:ext cx="1158588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4"/>
          <p:cNvSpPr txBox="1"/>
          <p:nvPr>
            <p:ph idx="2" type="body"/>
          </p:nvPr>
        </p:nvSpPr>
        <p:spPr>
          <a:xfrm>
            <a:off x="212040" y="3727080"/>
            <a:ext cx="1158588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idx="11" type="ftr"/>
          </p:nvPr>
        </p:nvSpPr>
        <p:spPr>
          <a:xfrm>
            <a:off x="30492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4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  <p:sp>
        <p:nvSpPr>
          <p:cNvPr id="133" name="Google Shape;133;p24"/>
          <p:cNvSpPr txBox="1"/>
          <p:nvPr>
            <p:ph idx="10" type="dt"/>
          </p:nvPr>
        </p:nvSpPr>
        <p:spPr>
          <a:xfrm>
            <a:off x="467352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212040" y="1583640"/>
            <a:ext cx="565380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5"/>
          <p:cNvSpPr txBox="1"/>
          <p:nvPr>
            <p:ph idx="2" type="body"/>
          </p:nvPr>
        </p:nvSpPr>
        <p:spPr>
          <a:xfrm>
            <a:off x="6148800" y="1583640"/>
            <a:ext cx="565380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3" type="body"/>
          </p:nvPr>
        </p:nvSpPr>
        <p:spPr>
          <a:xfrm>
            <a:off x="212040" y="3727080"/>
            <a:ext cx="565380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5"/>
          <p:cNvSpPr txBox="1"/>
          <p:nvPr>
            <p:ph idx="4" type="body"/>
          </p:nvPr>
        </p:nvSpPr>
        <p:spPr>
          <a:xfrm>
            <a:off x="6148800" y="3727080"/>
            <a:ext cx="565380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5"/>
          <p:cNvSpPr txBox="1"/>
          <p:nvPr>
            <p:ph idx="11" type="ftr"/>
          </p:nvPr>
        </p:nvSpPr>
        <p:spPr>
          <a:xfrm>
            <a:off x="30492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  <p:sp>
        <p:nvSpPr>
          <p:cNvPr id="142" name="Google Shape;142;p25"/>
          <p:cNvSpPr txBox="1"/>
          <p:nvPr>
            <p:ph idx="10" type="dt"/>
          </p:nvPr>
        </p:nvSpPr>
        <p:spPr>
          <a:xfrm>
            <a:off x="467352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212040" y="1583640"/>
            <a:ext cx="373032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6"/>
          <p:cNvSpPr txBox="1"/>
          <p:nvPr>
            <p:ph idx="2" type="body"/>
          </p:nvPr>
        </p:nvSpPr>
        <p:spPr>
          <a:xfrm>
            <a:off x="4129200" y="1583640"/>
            <a:ext cx="373032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6"/>
          <p:cNvSpPr txBox="1"/>
          <p:nvPr>
            <p:ph idx="3" type="body"/>
          </p:nvPr>
        </p:nvSpPr>
        <p:spPr>
          <a:xfrm>
            <a:off x="8046360" y="1583640"/>
            <a:ext cx="373032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6"/>
          <p:cNvSpPr txBox="1"/>
          <p:nvPr>
            <p:ph idx="4" type="body"/>
          </p:nvPr>
        </p:nvSpPr>
        <p:spPr>
          <a:xfrm>
            <a:off x="212040" y="3727080"/>
            <a:ext cx="373032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6"/>
          <p:cNvSpPr txBox="1"/>
          <p:nvPr>
            <p:ph idx="5" type="body"/>
          </p:nvPr>
        </p:nvSpPr>
        <p:spPr>
          <a:xfrm>
            <a:off x="4129200" y="3727080"/>
            <a:ext cx="373032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6"/>
          <p:cNvSpPr txBox="1"/>
          <p:nvPr>
            <p:ph idx="6" type="body"/>
          </p:nvPr>
        </p:nvSpPr>
        <p:spPr>
          <a:xfrm>
            <a:off x="8046360" y="3727080"/>
            <a:ext cx="3730320" cy="195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6"/>
          <p:cNvSpPr txBox="1"/>
          <p:nvPr>
            <p:ph idx="11" type="ftr"/>
          </p:nvPr>
        </p:nvSpPr>
        <p:spPr>
          <a:xfrm>
            <a:off x="30492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6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  <p:sp>
        <p:nvSpPr>
          <p:cNvPr id="153" name="Google Shape;153;p26"/>
          <p:cNvSpPr txBox="1"/>
          <p:nvPr>
            <p:ph idx="10" type="dt"/>
          </p:nvPr>
        </p:nvSpPr>
        <p:spPr>
          <a:xfrm>
            <a:off x="467352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3960"/>
            <a:ext cx="12191760" cy="134496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0" y="6028920"/>
            <a:ext cx="1219176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descr="A picture containing drawing&#10;&#10;Description automatically generated"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677520" y="43560"/>
            <a:ext cx="1517040" cy="1298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38040" y="122040"/>
            <a:ext cx="729000" cy="1086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>
            <p:ph type="title"/>
          </p:nvPr>
        </p:nvSpPr>
        <p:spPr>
          <a:xfrm>
            <a:off x="1092960" y="2274840"/>
            <a:ext cx="9868320" cy="1279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0" y="3960"/>
            <a:ext cx="12191760" cy="134496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0" y="6028920"/>
            <a:ext cx="1219176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descr="A picture containing drawing&#10;&#10;Description automatically generated" id="63" name="Google Shape;63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677520" y="43560"/>
            <a:ext cx="1517040" cy="1298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38040" y="122040"/>
            <a:ext cx="729000" cy="108648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>
            <p:ph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212040" y="1583640"/>
            <a:ext cx="11585880" cy="410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7" name="Google Shape;67;p14"/>
          <p:cNvSpPr txBox="1"/>
          <p:nvPr>
            <p:ph idx="11" type="ftr"/>
          </p:nvPr>
        </p:nvSpPr>
        <p:spPr>
          <a:xfrm>
            <a:off x="30492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8" name="Google Shape;68;p14"/>
          <p:cNvSpPr txBox="1"/>
          <p:nvPr>
            <p:ph idx="10" type="dt"/>
          </p:nvPr>
        </p:nvSpPr>
        <p:spPr>
          <a:xfrm>
            <a:off x="467352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Calibri"/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r>
              <a:rPr lang="hr-HR"/>
              <a:t> od 33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1092960" y="1484640"/>
            <a:ext cx="9868320" cy="264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hr-HR" sz="4800">
                <a:latin typeface="Calibri"/>
                <a:ea typeface="Calibri"/>
                <a:cs typeface="Calibri"/>
                <a:sym typeface="Calibri"/>
              </a:rPr>
              <a:t>E-Crkva</a:t>
            </a:r>
            <a:endParaRPr b="0" sz="4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7"/>
          <p:cNvSpPr/>
          <p:nvPr/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7"/>
          <p:cNvSpPr/>
          <p:nvPr/>
        </p:nvSpPr>
        <p:spPr>
          <a:xfrm>
            <a:off x="3678120" y="159840"/>
            <a:ext cx="469836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hr-H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Kolegij Internet stvari: Projekt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7"/>
          <p:cNvSpPr/>
          <p:nvPr/>
        </p:nvSpPr>
        <p:spPr>
          <a:xfrm>
            <a:off x="86059" y="5090750"/>
            <a:ext cx="12105900" cy="8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hr-H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Članovi tima: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hr-HR" sz="2400">
                <a:latin typeface="Calibri"/>
                <a:ea typeface="Calibri"/>
                <a:cs typeface="Calibri"/>
                <a:sym typeface="Calibri"/>
              </a:rPr>
              <a:t>Dino Hodžić Tumpić, Marcel Macukić, Filip Perušić, Vito Stanić, Marijan Tadijal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idx="4294967295"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hr-HR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Sadržaj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8"/>
          <p:cNvSpPr txBox="1"/>
          <p:nvPr>
            <p:ph idx="4294967295" type="body"/>
          </p:nvPr>
        </p:nvSpPr>
        <p:spPr>
          <a:xfrm>
            <a:off x="212040" y="1583640"/>
            <a:ext cx="11585880" cy="410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hr-H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Domena primjene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hr-H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Opis rješenja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hr-H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IoT platforma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hr-H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Korisničke aplikacije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8"/>
          <p:cNvSpPr txBox="1"/>
          <p:nvPr>
            <p:ph idx="11" type="ftr"/>
          </p:nvPr>
        </p:nvSpPr>
        <p:spPr>
          <a:xfrm>
            <a:off x="30492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stvari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8"/>
          <p:cNvSpPr txBox="1"/>
          <p:nvPr>
            <p:ph idx="10" type="dt"/>
          </p:nvPr>
        </p:nvSpPr>
        <p:spPr>
          <a:xfrm>
            <a:off x="467352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12. lipnja 202</a:t>
            </a:r>
            <a:r>
              <a:rPr lang="hr-HR"/>
              <a:t>6</a:t>
            </a: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8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fld id="{00000000-1234-1234-1234-123412341234}" type="slidenum"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od 33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idx="4294967295"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hr-HR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Domena primjene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9"/>
          <p:cNvSpPr txBox="1"/>
          <p:nvPr>
            <p:ph idx="4294967295" type="body"/>
          </p:nvPr>
        </p:nvSpPr>
        <p:spPr>
          <a:xfrm>
            <a:off x="212040" y="1583640"/>
            <a:ext cx="11585880" cy="410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hr-HR" sz="2800">
                <a:latin typeface="Calibri"/>
                <a:ea typeface="Calibri"/>
                <a:cs typeface="Calibri"/>
                <a:sym typeface="Calibri"/>
              </a:rPr>
              <a:t>pametna zgrada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hr-HR" sz="2800">
                <a:latin typeface="Calibri"/>
                <a:ea typeface="Calibri"/>
                <a:cs typeface="Calibri"/>
                <a:sym typeface="Calibri"/>
              </a:rPr>
              <a:t>Nema baterija - pristup električnom napajanju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hr-HR" sz="2800">
                <a:latin typeface="Calibri"/>
                <a:ea typeface="Calibri"/>
                <a:cs typeface="Calibri"/>
                <a:sym typeface="Calibri"/>
              </a:rPr>
              <a:t>Ruralni prostori - relativno loša povezanost sa internetom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9"/>
          <p:cNvSpPr txBox="1"/>
          <p:nvPr>
            <p:ph idx="11" type="ftr"/>
          </p:nvPr>
        </p:nvSpPr>
        <p:spPr>
          <a:xfrm>
            <a:off x="30492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stvari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9"/>
          <p:cNvSpPr txBox="1"/>
          <p:nvPr>
            <p:ph idx="10" type="dt"/>
          </p:nvPr>
        </p:nvSpPr>
        <p:spPr>
          <a:xfrm>
            <a:off x="467352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12. lipnja 202</a:t>
            </a:r>
            <a:r>
              <a:rPr lang="hr-HR"/>
              <a:t>6</a:t>
            </a: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9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fld id="{00000000-1234-1234-1234-123412341234}" type="slidenum"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od 33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idx="4294967295"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hr-HR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Opis rješenja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0"/>
          <p:cNvSpPr txBox="1"/>
          <p:nvPr>
            <p:ph idx="11" type="ftr"/>
          </p:nvPr>
        </p:nvSpPr>
        <p:spPr>
          <a:xfrm>
            <a:off x="30492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stvari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30"/>
          <p:cNvSpPr txBox="1"/>
          <p:nvPr>
            <p:ph idx="10" type="dt"/>
          </p:nvPr>
        </p:nvSpPr>
        <p:spPr>
          <a:xfrm>
            <a:off x="467352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12. lipnja 202</a:t>
            </a:r>
            <a:r>
              <a:rPr lang="hr-HR"/>
              <a:t>6</a:t>
            </a: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30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fld id="{00000000-1234-1234-1234-123412341234}" type="slidenum"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od 33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p30" title="SkicaArhitek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8173" y="1711988"/>
            <a:ext cx="6063130" cy="4103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idx="4294967295" type="title"/>
          </p:nvPr>
        </p:nvSpPr>
        <p:spPr>
          <a:xfrm>
            <a:off x="283320" y="186840"/>
            <a:ext cx="93444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hr-HR" sz="4400">
                <a:latin typeface="Calibri"/>
                <a:ea typeface="Calibri"/>
                <a:cs typeface="Calibri"/>
                <a:sym typeface="Calibri"/>
              </a:rPr>
              <a:t>ESP32 - Hardver i uloga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1"/>
          <p:cNvSpPr txBox="1"/>
          <p:nvPr>
            <p:ph idx="11" type="ftr"/>
          </p:nvPr>
        </p:nvSpPr>
        <p:spPr>
          <a:xfrm>
            <a:off x="304920" y="6356520"/>
            <a:ext cx="3860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stvari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31"/>
          <p:cNvSpPr txBox="1"/>
          <p:nvPr>
            <p:ph idx="10" type="dt"/>
          </p:nvPr>
        </p:nvSpPr>
        <p:spPr>
          <a:xfrm>
            <a:off x="4673520" y="6356520"/>
            <a:ext cx="2844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12. lipnja 202</a:t>
            </a:r>
            <a:r>
              <a:rPr lang="hr-HR"/>
              <a:t>6</a:t>
            </a: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31"/>
          <p:cNvSpPr txBox="1"/>
          <p:nvPr>
            <p:ph idx="12" type="sldNum"/>
          </p:nvPr>
        </p:nvSpPr>
        <p:spPr>
          <a:xfrm>
            <a:off x="8737560" y="6356520"/>
            <a:ext cx="2844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fld id="{00000000-1234-1234-1234-123412341234}" type="slidenum"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od 33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31"/>
          <p:cNvSpPr txBox="1"/>
          <p:nvPr>
            <p:ph idx="4294967295" type="body"/>
          </p:nvPr>
        </p:nvSpPr>
        <p:spPr>
          <a:xfrm>
            <a:off x="212050" y="1845475"/>
            <a:ext cx="5729100" cy="4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hr-HR" sz="2200">
                <a:latin typeface="Calibri"/>
                <a:ea typeface="Calibri"/>
                <a:cs typeface="Calibri"/>
                <a:sym typeface="Calibri"/>
              </a:rPr>
              <a:t>ESP32 kao senzorsko-aktuatorski čvor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hr-HR" sz="2200">
                <a:latin typeface="Calibri"/>
                <a:ea typeface="Calibri"/>
                <a:cs typeface="Calibri"/>
                <a:sym typeface="Calibri"/>
              </a:rPr>
              <a:t>ICS-43434 mikrofon (I2S, mjeri dB)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hr-HR" sz="2200">
                <a:latin typeface="Calibri"/>
                <a:ea typeface="Calibri"/>
                <a:cs typeface="Calibri"/>
                <a:sym typeface="Calibri"/>
              </a:rPr>
              <a:t>MAX98357A pojačalo i zvučnik (I2S)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hr-HR" sz="2200">
                <a:latin typeface="Calibri"/>
                <a:ea typeface="Calibri"/>
                <a:cs typeface="Calibri"/>
                <a:sym typeface="Calibri"/>
              </a:rPr>
              <a:t>Kalibracija pri pokretanju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31" title="PHOTO-2026-05-20-16-42-4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1200" y="1336475"/>
            <a:ext cx="6250800" cy="468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idx="4294967295" type="title"/>
          </p:nvPr>
        </p:nvSpPr>
        <p:spPr>
          <a:xfrm>
            <a:off x="283320" y="186840"/>
            <a:ext cx="93444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hr-HR" sz="4400">
                <a:latin typeface="Calibri"/>
                <a:ea typeface="Calibri"/>
                <a:cs typeface="Calibri"/>
                <a:sym typeface="Calibri"/>
              </a:rPr>
              <a:t>ESP32 - Logika zvona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2"/>
          <p:cNvSpPr txBox="1"/>
          <p:nvPr>
            <p:ph idx="11" type="ftr"/>
          </p:nvPr>
        </p:nvSpPr>
        <p:spPr>
          <a:xfrm>
            <a:off x="304920" y="6356520"/>
            <a:ext cx="3860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stvari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32"/>
          <p:cNvSpPr txBox="1"/>
          <p:nvPr>
            <p:ph idx="10" type="dt"/>
          </p:nvPr>
        </p:nvSpPr>
        <p:spPr>
          <a:xfrm>
            <a:off x="4673520" y="6356520"/>
            <a:ext cx="2844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12. lipnja 202</a:t>
            </a:r>
            <a:r>
              <a:rPr lang="hr-HR"/>
              <a:t>6</a:t>
            </a: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32"/>
          <p:cNvSpPr txBox="1"/>
          <p:nvPr>
            <p:ph idx="12" type="sldNum"/>
          </p:nvPr>
        </p:nvSpPr>
        <p:spPr>
          <a:xfrm>
            <a:off x="8737560" y="6356520"/>
            <a:ext cx="2844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fld id="{00000000-1234-1234-1234-123412341234}" type="slidenum"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od 33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32"/>
          <p:cNvSpPr txBox="1"/>
          <p:nvPr>
            <p:ph idx="4294967295" type="body"/>
          </p:nvPr>
        </p:nvSpPr>
        <p:spPr>
          <a:xfrm>
            <a:off x="212050" y="1845475"/>
            <a:ext cx="9598800" cy="4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hr-HR" sz="2200">
                <a:latin typeface="Calibri"/>
                <a:ea typeface="Calibri"/>
                <a:cs typeface="Calibri"/>
                <a:sym typeface="Calibri"/>
              </a:rPr>
              <a:t>chime obrasci za :15/:30/:45/:00 	--&gt;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hr-HR" sz="2200">
                <a:latin typeface="Calibri"/>
                <a:ea typeface="Calibri"/>
                <a:cs typeface="Calibri"/>
                <a:sym typeface="Calibri"/>
              </a:rPr>
              <a:t>Tonovi: 246/329/370/415 Hz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hr-HR" sz="2200">
                <a:latin typeface="Calibri"/>
                <a:ea typeface="Calibri"/>
                <a:cs typeface="Calibri"/>
                <a:sym typeface="Calibri"/>
              </a:rPr>
              <a:t>3 FreeRTOS taska (bell, loudness, net_rx)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2"/>
          <p:cNvSpPr txBox="1"/>
          <p:nvPr>
            <p:ph idx="4294967295" type="body"/>
          </p:nvPr>
        </p:nvSpPr>
        <p:spPr>
          <a:xfrm>
            <a:off x="5379225" y="1678775"/>
            <a:ext cx="6717300" cy="1797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-HR" sz="2200">
                <a:latin typeface="Calibri"/>
                <a:ea typeface="Calibri"/>
                <a:cs typeface="Calibri"/>
                <a:sym typeface="Calibri"/>
              </a:rPr>
              <a:t>:15 min  -  4 3 2 1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-HR" sz="2200">
                <a:latin typeface="Calibri"/>
                <a:ea typeface="Calibri"/>
                <a:cs typeface="Calibri"/>
                <a:sym typeface="Calibri"/>
              </a:rPr>
              <a:t>:30 min  -  2 4 3 1 | 2 3 4 2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-HR" sz="2200">
                <a:latin typeface="Calibri"/>
                <a:ea typeface="Calibri"/>
                <a:cs typeface="Calibri"/>
                <a:sym typeface="Calibri"/>
              </a:rPr>
              <a:t>:45 min  -  4 2 3 1 | 1 3 4 2 | 4 3 2 1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-HR" sz="2200">
                <a:latin typeface="Calibri"/>
                <a:ea typeface="Calibri"/>
                <a:cs typeface="Calibri"/>
                <a:sym typeface="Calibri"/>
              </a:rPr>
              <a:t>:00 min  -  2 4 3 1 | 2 3 4 2 | 4 2 3 1 | 2 3 4 2 | H * (ton 1)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/>
          <p:nvPr>
            <p:ph idx="4294967295" type="title"/>
          </p:nvPr>
        </p:nvSpPr>
        <p:spPr>
          <a:xfrm>
            <a:off x="283320" y="186840"/>
            <a:ext cx="93444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hr-HR" sz="4400">
                <a:latin typeface="Calibri"/>
                <a:ea typeface="Calibri"/>
                <a:cs typeface="Calibri"/>
                <a:sym typeface="Calibri"/>
              </a:rPr>
              <a:t>ESP32 - Komunikacija s Pycomom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3"/>
          <p:cNvSpPr txBox="1"/>
          <p:nvPr>
            <p:ph idx="11" type="ftr"/>
          </p:nvPr>
        </p:nvSpPr>
        <p:spPr>
          <a:xfrm>
            <a:off x="304920" y="6356520"/>
            <a:ext cx="3860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stvari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33"/>
          <p:cNvSpPr txBox="1"/>
          <p:nvPr>
            <p:ph idx="10" type="dt"/>
          </p:nvPr>
        </p:nvSpPr>
        <p:spPr>
          <a:xfrm>
            <a:off x="4673520" y="6356520"/>
            <a:ext cx="2844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12. lipnja 202</a:t>
            </a:r>
            <a:r>
              <a:rPr lang="hr-HR"/>
              <a:t>6</a:t>
            </a: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33"/>
          <p:cNvSpPr txBox="1"/>
          <p:nvPr>
            <p:ph idx="12" type="sldNum"/>
          </p:nvPr>
        </p:nvSpPr>
        <p:spPr>
          <a:xfrm>
            <a:off x="8737560" y="6356520"/>
            <a:ext cx="2844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fld id="{00000000-1234-1234-1234-123412341234}" type="slidenum"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od 33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33"/>
          <p:cNvSpPr txBox="1"/>
          <p:nvPr>
            <p:ph idx="4294967295" type="body"/>
          </p:nvPr>
        </p:nvSpPr>
        <p:spPr>
          <a:xfrm>
            <a:off x="212050" y="1845475"/>
            <a:ext cx="11777400" cy="4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hr-HR" sz="2200">
                <a:latin typeface="Calibri"/>
                <a:ea typeface="Calibri"/>
                <a:cs typeface="Calibri"/>
                <a:sym typeface="Calibri"/>
              </a:rPr>
              <a:t>Wi-Fi STA -&gt; TCP klijent (192.168.4.1:9000)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hr-HR" sz="2200">
                <a:latin typeface="Calibri"/>
                <a:ea typeface="Calibri"/>
                <a:cs typeface="Calibri"/>
                <a:sym typeface="Calibri"/>
              </a:rPr>
              <a:t>Protokol je tekstualni -&gt; Format poruke: "&lt;naredba&gt; [argument]"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hr-HR" sz="2200">
                <a:latin typeface="Calibri"/>
                <a:ea typeface="Calibri"/>
                <a:cs typeface="Calibri"/>
                <a:sym typeface="Calibri"/>
              </a:rPr>
              <a:t>Poruke koje prima: ring, pattern, reset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hr-HR" sz="2200">
                <a:latin typeface="Calibri"/>
                <a:ea typeface="Calibri"/>
                <a:cs typeface="Calibri"/>
                <a:sym typeface="Calibri"/>
              </a:rPr>
              <a:t>Poruka koju šalje: loudness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hr-HR" sz="2200">
                <a:latin typeface="Calibri"/>
                <a:ea typeface="Calibri"/>
                <a:cs typeface="Calibri"/>
                <a:sym typeface="Calibri"/>
              </a:rPr>
              <a:t>Automatski reconnect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idx="4294967295" type="title"/>
          </p:nvPr>
        </p:nvSpPr>
        <p:spPr>
          <a:xfrm>
            <a:off x="283320" y="186840"/>
            <a:ext cx="93444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hr-HR" sz="4400">
                <a:latin typeface="Calibri"/>
                <a:ea typeface="Calibri"/>
                <a:cs typeface="Calibri"/>
                <a:sym typeface="Calibri"/>
              </a:rPr>
              <a:t>Pycom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4"/>
          <p:cNvSpPr txBox="1"/>
          <p:nvPr>
            <p:ph idx="11" type="ftr"/>
          </p:nvPr>
        </p:nvSpPr>
        <p:spPr>
          <a:xfrm>
            <a:off x="304920" y="6356520"/>
            <a:ext cx="3860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stvari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34"/>
          <p:cNvSpPr txBox="1"/>
          <p:nvPr>
            <p:ph idx="10" type="dt"/>
          </p:nvPr>
        </p:nvSpPr>
        <p:spPr>
          <a:xfrm>
            <a:off x="4673520" y="6356520"/>
            <a:ext cx="2844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12. lipnja 202</a:t>
            </a:r>
            <a:r>
              <a:rPr lang="hr-HR"/>
              <a:t>6</a:t>
            </a: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34"/>
          <p:cNvSpPr txBox="1"/>
          <p:nvPr>
            <p:ph idx="12" type="sldNum"/>
          </p:nvPr>
        </p:nvSpPr>
        <p:spPr>
          <a:xfrm>
            <a:off x="8737560" y="6356520"/>
            <a:ext cx="2844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fld id="{00000000-1234-1234-1234-123412341234}" type="slidenum"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od 33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34"/>
          <p:cNvSpPr txBox="1"/>
          <p:nvPr>
            <p:ph idx="4294967295" type="body"/>
          </p:nvPr>
        </p:nvSpPr>
        <p:spPr>
          <a:xfrm>
            <a:off x="212050" y="1845475"/>
            <a:ext cx="11777400" cy="4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hr-HR" sz="2200">
                <a:latin typeface="Calibri"/>
                <a:ea typeface="Calibri"/>
                <a:cs typeface="Calibri"/>
                <a:sym typeface="Calibri"/>
              </a:rPr>
              <a:t>Jednostavan Gateway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hr-HR" sz="2200">
                <a:latin typeface="Calibri"/>
                <a:ea typeface="Calibri"/>
                <a:cs typeface="Calibri"/>
                <a:sym typeface="Calibri"/>
              </a:rPr>
              <a:t>Spaja se na ThingsBoard pomoću MQTT i ESP32 pomoću WiFi AP-a i TCP socketa. Prosljeđuje poruke između njih.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hr-HR" sz="2200">
                <a:latin typeface="Calibri"/>
                <a:ea typeface="Calibri"/>
                <a:cs typeface="Calibri"/>
                <a:sym typeface="Calibri"/>
              </a:rPr>
              <a:t>NB-IoT veza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hr-HR" sz="2200">
                <a:latin typeface="Calibri"/>
                <a:ea typeface="Calibri"/>
                <a:cs typeface="Calibri"/>
                <a:sym typeface="Calibri"/>
              </a:rPr>
              <a:t>ThingsBoard Provisioning - automatsko registriranje uređaja na TB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>
            <p:ph idx="4294967295" type="title"/>
          </p:nvPr>
        </p:nvSpPr>
        <p:spPr>
          <a:xfrm>
            <a:off x="283320" y="186840"/>
            <a:ext cx="93444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hr-HR" sz="4400">
                <a:latin typeface="Calibri"/>
                <a:ea typeface="Calibri"/>
                <a:cs typeface="Calibri"/>
                <a:sym typeface="Calibri"/>
              </a:rPr>
              <a:t>ThingsBoard - </a:t>
            </a:r>
            <a:r>
              <a:rPr b="0" i="0" lang="hr-HR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IoT platforma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5"/>
          <p:cNvSpPr txBox="1"/>
          <p:nvPr>
            <p:ph idx="11" type="ftr"/>
          </p:nvPr>
        </p:nvSpPr>
        <p:spPr>
          <a:xfrm>
            <a:off x="304920" y="6356520"/>
            <a:ext cx="3860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stvari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35"/>
          <p:cNvSpPr txBox="1"/>
          <p:nvPr>
            <p:ph idx="10" type="dt"/>
          </p:nvPr>
        </p:nvSpPr>
        <p:spPr>
          <a:xfrm>
            <a:off x="4673520" y="6356520"/>
            <a:ext cx="2844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12. lipnja 202</a:t>
            </a:r>
            <a:r>
              <a:rPr lang="hr-HR"/>
              <a:t>6</a:t>
            </a: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35"/>
          <p:cNvSpPr txBox="1"/>
          <p:nvPr>
            <p:ph idx="12" type="sldNum"/>
          </p:nvPr>
        </p:nvSpPr>
        <p:spPr>
          <a:xfrm>
            <a:off x="8737560" y="6356520"/>
            <a:ext cx="2844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fld id="{00000000-1234-1234-1234-123412341234}" type="slidenum"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od 33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35"/>
          <p:cNvSpPr txBox="1"/>
          <p:nvPr>
            <p:ph idx="4294967295" type="body"/>
          </p:nvPr>
        </p:nvSpPr>
        <p:spPr>
          <a:xfrm>
            <a:off x="212050" y="1583651"/>
            <a:ext cx="11586000" cy="43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lang="hr-HR" sz="2200">
                <a:latin typeface="Calibri"/>
                <a:ea typeface="Calibri"/>
                <a:cs typeface="Calibri"/>
                <a:sym typeface="Calibri"/>
              </a:rPr>
              <a:t>Što je ThingsBoard?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hr-HR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Open-source platforma za povezivanje i upravljanje IoT uređajima</a:t>
            </a:r>
            <a:endParaRPr sz="135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hr-HR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Prikupljanje podataka i obrada telemetrije</a:t>
            </a:r>
            <a:endParaRPr sz="135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hr-HR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Prikaz podataka putem vizualizacija (dashboardi)</a:t>
            </a:r>
            <a:endParaRPr sz="135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hr-HR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hr-HR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održava MQTT, CoAP i HTTP protokole</a:t>
            </a:r>
            <a:endParaRPr sz="135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hr-HR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Moguće korištenje u oblaku ili lokalno (on-premise)</a:t>
            </a:r>
            <a:endParaRPr sz="135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hr-HR" sz="2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Uloga u projektu</a:t>
            </a:r>
            <a:endParaRPr b="1" sz="2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hr-HR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Centralna platforma sustava E-crkva:</a:t>
            </a:r>
            <a:endParaRPr sz="17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hr-HR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Registracija uređaja</a:t>
            </a:r>
            <a:endParaRPr sz="135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hr-HR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Organizacija entiteta (asseti, profili, relacije)</a:t>
            </a:r>
            <a:endParaRPr sz="135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hr-HR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Zaprimanje telemetrije (glasnoća mikrofona)</a:t>
            </a:r>
            <a:endParaRPr sz="135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hr-HR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Obrada podataka putem rule chain-ova</a:t>
            </a:r>
            <a:endParaRPr sz="135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hr-HR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Prikaz prikupljenih podataka na dashboardu</a:t>
            </a:r>
            <a:endParaRPr sz="17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6"/>
          <p:cNvSpPr txBox="1"/>
          <p:nvPr>
            <p:ph idx="4294967295"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hr-HR" sz="4400">
                <a:latin typeface="Calibri"/>
                <a:ea typeface="Calibri"/>
                <a:cs typeface="Calibri"/>
                <a:sym typeface="Calibri"/>
              </a:rPr>
              <a:t>Koncepti platforme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6"/>
          <p:cNvSpPr txBox="1"/>
          <p:nvPr>
            <p:ph idx="4294967295" type="body"/>
          </p:nvPr>
        </p:nvSpPr>
        <p:spPr>
          <a:xfrm>
            <a:off x="212040" y="1583640"/>
            <a:ext cx="11586000" cy="4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hr-HR" sz="2800">
                <a:latin typeface="Calibri"/>
                <a:ea typeface="Calibri"/>
                <a:cs typeface="Calibri"/>
                <a:sym typeface="Calibri"/>
              </a:rPr>
              <a:t>Uređaji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-HR" sz="13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IoT komponente koje šalju telemetrijske podatke</a:t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-HR" sz="13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hr-HR" sz="2800">
                <a:latin typeface="Calibri"/>
                <a:ea typeface="Calibri"/>
                <a:cs typeface="Calibri"/>
                <a:sym typeface="Calibri"/>
              </a:rPr>
              <a:t>Asseti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-HR" sz="13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Lokacije, objekti i organizacijske cjeline; povezuju pripadajuće uređaje</a:t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6"/>
          <p:cNvSpPr txBox="1"/>
          <p:nvPr>
            <p:ph idx="11" type="ftr"/>
          </p:nvPr>
        </p:nvSpPr>
        <p:spPr>
          <a:xfrm>
            <a:off x="30492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stvari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36"/>
          <p:cNvSpPr txBox="1"/>
          <p:nvPr>
            <p:ph idx="10" type="dt"/>
          </p:nvPr>
        </p:nvSpPr>
        <p:spPr>
          <a:xfrm>
            <a:off x="467352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12. lipnja 202</a:t>
            </a:r>
            <a:r>
              <a:rPr lang="hr-HR"/>
              <a:t>6</a:t>
            </a: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36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fld id="{00000000-1234-1234-1234-123412341234}" type="slidenum"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od 33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5" name="Google Shape;24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8775" y="1619150"/>
            <a:ext cx="7409149" cy="22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2925" y="3938000"/>
            <a:ext cx="6475126" cy="198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 txBox="1"/>
          <p:nvPr>
            <p:ph idx="4294967295" type="title"/>
          </p:nvPr>
        </p:nvSpPr>
        <p:spPr>
          <a:xfrm>
            <a:off x="283320" y="186840"/>
            <a:ext cx="93444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hr-HR" sz="4400">
                <a:latin typeface="Calibri"/>
                <a:ea typeface="Calibri"/>
                <a:cs typeface="Calibri"/>
                <a:sym typeface="Calibri"/>
              </a:rPr>
              <a:t>Koncepti platforme, nastavak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7"/>
          <p:cNvSpPr txBox="1"/>
          <p:nvPr>
            <p:ph idx="4294967295" type="body"/>
          </p:nvPr>
        </p:nvSpPr>
        <p:spPr>
          <a:xfrm>
            <a:off x="212040" y="1583640"/>
            <a:ext cx="11586000" cy="4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hr-HR" sz="2600">
                <a:latin typeface="Calibri"/>
                <a:ea typeface="Calibri"/>
                <a:cs typeface="Calibri"/>
                <a:sym typeface="Calibri"/>
              </a:rPr>
              <a:t>Rule chain - </a:t>
            </a:r>
            <a:r>
              <a:rPr lang="hr-HR" sz="2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esp32</a:t>
            </a:r>
            <a:endParaRPr sz="2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-HR" sz="13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0775" y="1770212"/>
            <a:ext cx="7725725" cy="391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7"/>
          <p:cNvSpPr txBox="1"/>
          <p:nvPr>
            <p:ph idx="11" type="ftr"/>
          </p:nvPr>
        </p:nvSpPr>
        <p:spPr>
          <a:xfrm>
            <a:off x="304920" y="6356520"/>
            <a:ext cx="3860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stvari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37"/>
          <p:cNvSpPr txBox="1"/>
          <p:nvPr>
            <p:ph idx="10" type="dt"/>
          </p:nvPr>
        </p:nvSpPr>
        <p:spPr>
          <a:xfrm>
            <a:off x="4673520" y="6356520"/>
            <a:ext cx="2844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12. lipnja 202</a:t>
            </a:r>
            <a:r>
              <a:rPr lang="hr-HR"/>
              <a:t>6</a:t>
            </a: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37"/>
          <p:cNvSpPr txBox="1"/>
          <p:nvPr>
            <p:ph idx="12" type="sldNum"/>
          </p:nvPr>
        </p:nvSpPr>
        <p:spPr>
          <a:xfrm>
            <a:off x="8737560" y="6356520"/>
            <a:ext cx="2844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fld id="{00000000-1234-1234-1234-123412341234}" type="slidenum"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od 33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8"/>
          <p:cNvSpPr txBox="1"/>
          <p:nvPr>
            <p:ph idx="4294967295" type="title"/>
          </p:nvPr>
        </p:nvSpPr>
        <p:spPr>
          <a:xfrm>
            <a:off x="283320" y="186840"/>
            <a:ext cx="93444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hr-HR" sz="4400">
                <a:latin typeface="Calibri"/>
                <a:ea typeface="Calibri"/>
                <a:cs typeface="Calibri"/>
                <a:sym typeface="Calibri"/>
              </a:rPr>
              <a:t>Koncepti platforme, nastavak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8"/>
          <p:cNvSpPr txBox="1"/>
          <p:nvPr>
            <p:ph idx="4294967295" type="body"/>
          </p:nvPr>
        </p:nvSpPr>
        <p:spPr>
          <a:xfrm>
            <a:off x="212040" y="1583640"/>
            <a:ext cx="11586000" cy="4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hr-HR" sz="2600">
                <a:latin typeface="Calibri"/>
                <a:ea typeface="Calibri"/>
                <a:cs typeface="Calibri"/>
                <a:sym typeface="Calibri"/>
              </a:rPr>
              <a:t>Rule chain - </a:t>
            </a:r>
            <a:r>
              <a:rPr lang="hr-HR" sz="2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Pycom</a:t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-HR" sz="13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675" y="2338700"/>
            <a:ext cx="8074026" cy="278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8"/>
          <p:cNvSpPr txBox="1"/>
          <p:nvPr>
            <p:ph idx="11" type="ftr"/>
          </p:nvPr>
        </p:nvSpPr>
        <p:spPr>
          <a:xfrm>
            <a:off x="304920" y="6356520"/>
            <a:ext cx="3860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stvari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38"/>
          <p:cNvSpPr txBox="1"/>
          <p:nvPr>
            <p:ph idx="10" type="dt"/>
          </p:nvPr>
        </p:nvSpPr>
        <p:spPr>
          <a:xfrm>
            <a:off x="4673520" y="6356520"/>
            <a:ext cx="2844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12. lipnja 202</a:t>
            </a:r>
            <a:r>
              <a:rPr lang="hr-HR"/>
              <a:t>6</a:t>
            </a: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38"/>
          <p:cNvSpPr txBox="1"/>
          <p:nvPr>
            <p:ph idx="12" type="sldNum"/>
          </p:nvPr>
        </p:nvSpPr>
        <p:spPr>
          <a:xfrm>
            <a:off x="8737560" y="6356520"/>
            <a:ext cx="2844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fld id="{00000000-1234-1234-1234-123412341234}" type="slidenum"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od 33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9"/>
          <p:cNvSpPr txBox="1"/>
          <p:nvPr>
            <p:ph idx="4294967295" type="title"/>
          </p:nvPr>
        </p:nvSpPr>
        <p:spPr>
          <a:xfrm>
            <a:off x="283320" y="186840"/>
            <a:ext cx="93444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hr-HR" sz="4400">
                <a:latin typeface="Calibri"/>
                <a:ea typeface="Calibri"/>
                <a:cs typeface="Calibri"/>
                <a:sym typeface="Calibri"/>
              </a:rPr>
              <a:t>Koncepti platforme, nastavak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9"/>
          <p:cNvSpPr txBox="1"/>
          <p:nvPr>
            <p:ph idx="4294967295" type="body"/>
          </p:nvPr>
        </p:nvSpPr>
        <p:spPr>
          <a:xfrm>
            <a:off x="212040" y="1583640"/>
            <a:ext cx="11586000" cy="4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hr-HR" sz="2600">
                <a:latin typeface="Calibri"/>
                <a:ea typeface="Calibri"/>
                <a:cs typeface="Calibri"/>
                <a:sym typeface="Calibri"/>
              </a:rPr>
              <a:t>Dashboardi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-HR" sz="13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Obrada podataka s uređaja: filtriranje, transformacija, pokretanje alarma</a:t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-HR" sz="13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9"/>
          <p:cNvSpPr txBox="1"/>
          <p:nvPr>
            <p:ph idx="11" type="ftr"/>
          </p:nvPr>
        </p:nvSpPr>
        <p:spPr>
          <a:xfrm>
            <a:off x="304920" y="6356520"/>
            <a:ext cx="3860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stvari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39"/>
          <p:cNvSpPr txBox="1"/>
          <p:nvPr>
            <p:ph idx="10" type="dt"/>
          </p:nvPr>
        </p:nvSpPr>
        <p:spPr>
          <a:xfrm>
            <a:off x="4673520" y="6356520"/>
            <a:ext cx="2844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12. lipnja 202</a:t>
            </a:r>
            <a:r>
              <a:rPr lang="hr-HR"/>
              <a:t>6</a:t>
            </a: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39"/>
          <p:cNvSpPr txBox="1"/>
          <p:nvPr>
            <p:ph idx="12" type="sldNum"/>
          </p:nvPr>
        </p:nvSpPr>
        <p:spPr>
          <a:xfrm>
            <a:off x="8737560" y="6356520"/>
            <a:ext cx="2844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fld id="{00000000-1234-1234-1234-123412341234}" type="slidenum"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od 33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6" name="Google Shape;27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925" y="2659348"/>
            <a:ext cx="10238125" cy="289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0"/>
          <p:cNvSpPr txBox="1"/>
          <p:nvPr>
            <p:ph idx="4294967295" type="title"/>
          </p:nvPr>
        </p:nvSpPr>
        <p:spPr>
          <a:xfrm>
            <a:off x="283320" y="186840"/>
            <a:ext cx="93444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hr-HR" sz="4400">
                <a:latin typeface="Calibri"/>
                <a:ea typeface="Calibri"/>
                <a:cs typeface="Calibri"/>
                <a:sym typeface="Calibri"/>
              </a:rPr>
              <a:t>Struktura i komunikacija sustava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0"/>
          <p:cNvSpPr txBox="1"/>
          <p:nvPr>
            <p:ph idx="4294967295" type="body"/>
          </p:nvPr>
        </p:nvSpPr>
        <p:spPr>
          <a:xfrm>
            <a:off x="212040" y="1583640"/>
            <a:ext cx="11586000" cy="4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-H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Hijerarhija entiteta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-HR" sz="12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Zvonik je povezan s Crkvom relacijom pripadnosti, a uređaji sa Zvonikom - telemetrija je logički vezana uz mjesto nastanka.</a:t>
            </a:r>
            <a:endParaRPr sz="125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-H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Komunikacija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●"/>
            </a:pPr>
            <a:r>
              <a:rPr lang="hr-HR" sz="13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Glavni uređaj je ESP32 - mikrofon i zvučnik nisu zasebni uređaji u ThingsBoardu, nego njegova periferija.</a:t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●"/>
            </a:pPr>
            <a:r>
              <a:rPr lang="hr-HR" sz="13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Pycom služi kao gateway - telemetriju prosljeđuje MQTT porukama prema platformi.</a:t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●"/>
            </a:pPr>
            <a:r>
              <a:rPr lang="hr-HR" sz="13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ESP32 se ne spaja direktno: gateway ga prijavljuje kao downstream uređaj preko ThingsBoard Gateway MQTT API-ja.</a:t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●"/>
            </a:pPr>
            <a:r>
              <a:rPr lang="hr-HR" sz="13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Platforma podržava i atribute, RPC komunikaciju te provisioning uređaja.</a:t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-HR" sz="13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0"/>
          <p:cNvSpPr txBox="1"/>
          <p:nvPr>
            <p:ph idx="11" type="ftr"/>
          </p:nvPr>
        </p:nvSpPr>
        <p:spPr>
          <a:xfrm>
            <a:off x="304920" y="6356520"/>
            <a:ext cx="3860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stvari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40"/>
          <p:cNvSpPr txBox="1"/>
          <p:nvPr>
            <p:ph idx="10" type="dt"/>
          </p:nvPr>
        </p:nvSpPr>
        <p:spPr>
          <a:xfrm>
            <a:off x="4673520" y="6356520"/>
            <a:ext cx="2844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12. lipnja 202</a:t>
            </a:r>
            <a:r>
              <a:rPr lang="hr-HR"/>
              <a:t>6</a:t>
            </a: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40"/>
          <p:cNvSpPr txBox="1"/>
          <p:nvPr>
            <p:ph idx="12" type="sldNum"/>
          </p:nvPr>
        </p:nvSpPr>
        <p:spPr>
          <a:xfrm>
            <a:off x="8737560" y="6356520"/>
            <a:ext cx="2844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fld id="{00000000-1234-1234-1234-123412341234}" type="slidenum"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od 33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6" name="Google Shape;28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1333" y="1985745"/>
            <a:ext cx="2396725" cy="355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1"/>
          <p:cNvSpPr txBox="1"/>
          <p:nvPr>
            <p:ph idx="4294967295" type="title"/>
          </p:nvPr>
        </p:nvSpPr>
        <p:spPr>
          <a:xfrm>
            <a:off x="283320" y="186840"/>
            <a:ext cx="93444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hr-HR" sz="4400">
                <a:latin typeface="Calibri"/>
                <a:ea typeface="Calibri"/>
                <a:cs typeface="Calibri"/>
                <a:sym typeface="Calibri"/>
              </a:rPr>
              <a:t>Konfiguracija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1"/>
          <p:cNvSpPr txBox="1"/>
          <p:nvPr>
            <p:ph idx="4294967295" type="body"/>
          </p:nvPr>
        </p:nvSpPr>
        <p:spPr>
          <a:xfrm>
            <a:off x="212040" y="1583640"/>
            <a:ext cx="11586000" cy="4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rPr b="1" lang="hr-H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Pycom gateway (lte_gateway)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●"/>
            </a:pPr>
            <a:r>
              <a:rPr lang="hr-HR" sz="13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Device profile za MQTT povezivanje s platformom</a:t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●"/>
            </a:pPr>
            <a:r>
              <a:rPr lang="hr-HR" sz="13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Razmjena telemetrije i RPC poruka</a:t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●"/>
            </a:pPr>
            <a:r>
              <a:rPr lang="hr-HR" sz="13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Prosljeđuje podatke s povezanih uređaja</a:t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hr-H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ESP32 bell node (bell_node)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Char char="●"/>
            </a:pPr>
            <a:r>
              <a:rPr lang="hr-HR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Zaseban profile - čvor u zvoniku sa senzorom i aktuatorom</a:t>
            </a:r>
            <a:endParaRPr sz="135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Char char="●"/>
            </a:pPr>
            <a:r>
              <a:rPr lang="hr-HR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Atributi: has_microphone, has_bell_actuator, lokacija</a:t>
            </a:r>
            <a:endParaRPr sz="135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Char char="●"/>
            </a:pPr>
            <a:r>
              <a:rPr lang="hr-HR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Pragovi alarma: warning 70 dB, critical 85 dB</a:t>
            </a:r>
            <a:endParaRPr sz="135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-HR" sz="13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1"/>
          <p:cNvSpPr txBox="1"/>
          <p:nvPr>
            <p:ph idx="11" type="ftr"/>
          </p:nvPr>
        </p:nvSpPr>
        <p:spPr>
          <a:xfrm>
            <a:off x="304920" y="6356520"/>
            <a:ext cx="3860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stvari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41"/>
          <p:cNvSpPr txBox="1"/>
          <p:nvPr>
            <p:ph idx="10" type="dt"/>
          </p:nvPr>
        </p:nvSpPr>
        <p:spPr>
          <a:xfrm>
            <a:off x="4673520" y="6356520"/>
            <a:ext cx="2844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12. lipnja 202</a:t>
            </a:r>
            <a:r>
              <a:rPr lang="hr-HR"/>
              <a:t>6</a:t>
            </a: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41"/>
          <p:cNvSpPr txBox="1"/>
          <p:nvPr>
            <p:ph idx="12" type="sldNum"/>
          </p:nvPr>
        </p:nvSpPr>
        <p:spPr>
          <a:xfrm>
            <a:off x="8737560" y="6356520"/>
            <a:ext cx="2844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fld id="{00000000-1234-1234-1234-123412341234}" type="slidenum"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od 33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6" name="Google Shape;29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3675" y="1670230"/>
            <a:ext cx="4599075" cy="3930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2"/>
          <p:cNvSpPr txBox="1"/>
          <p:nvPr>
            <p:ph type="title"/>
          </p:nvPr>
        </p:nvSpPr>
        <p:spPr>
          <a:xfrm>
            <a:off x="283320" y="186840"/>
            <a:ext cx="9344520" cy="98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hr-HR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Korisničk</a:t>
            </a:r>
            <a:r>
              <a:rPr lang="hr-HR" sz="4400"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0" i="0" lang="hr-HR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aplikacij</a:t>
            </a:r>
            <a:r>
              <a:rPr lang="hr-HR" sz="4400"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42"/>
          <p:cNvSpPr txBox="1"/>
          <p:nvPr>
            <p:ph idx="1" type="body"/>
          </p:nvPr>
        </p:nvSpPr>
        <p:spPr>
          <a:xfrm>
            <a:off x="212040" y="1583640"/>
            <a:ext cx="5653800" cy="4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1500">
                <a:solidFill>
                  <a:schemeClr val="dk1"/>
                </a:solidFill>
              </a:rPr>
              <a:t>Centralno sučelje:</a:t>
            </a:r>
            <a:r>
              <a:rPr lang="hr-HR" sz="1500">
                <a:solidFill>
                  <a:schemeClr val="dk1"/>
                </a:solidFill>
              </a:rPr>
              <a:t> Pregled dostupnih uređaja na terenu i njihovih osnovnih podataka (mrežni status, zvone li trenutno, zadnja glasnoća). 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1500">
                <a:solidFill>
                  <a:schemeClr val="dk1"/>
                </a:solidFill>
              </a:rPr>
              <a:t>Detalji uređaja:</a:t>
            </a:r>
            <a:r>
              <a:rPr lang="hr-HR" sz="1500">
                <a:solidFill>
                  <a:schemeClr val="dk1"/>
                </a:solidFill>
              </a:rPr>
              <a:t> Prikaz grafikona kretanja glasnoće u zadnjih 6 sati. 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1500">
                <a:solidFill>
                  <a:schemeClr val="dk1"/>
                </a:solidFill>
              </a:rPr>
              <a:t>Povijest (History):</a:t>
            </a:r>
            <a:r>
              <a:rPr lang="hr-HR" sz="1500">
                <a:solidFill>
                  <a:schemeClr val="dk1"/>
                </a:solidFill>
              </a:rPr>
              <a:t> Prošireni grafikon za zadnjih 24 sata namijenjen dugoročnijoj analizi. 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1500">
                <a:solidFill>
                  <a:schemeClr val="dk1"/>
                </a:solidFill>
              </a:rPr>
              <a:t>Periodičko osvježavanje:</a:t>
            </a:r>
            <a:r>
              <a:rPr lang="hr-HR" sz="1500">
                <a:solidFill>
                  <a:schemeClr val="dk1"/>
                </a:solidFill>
              </a:rPr>
              <a:t> Backend aplikacije svakih 15 minuta povlači najnovije podatke s ThingsBoarda i sprema ih u lokalnu bazu podataka za prikaz grafikona.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03" name="Google Shape;303;p42"/>
          <p:cNvSpPr txBox="1"/>
          <p:nvPr>
            <p:ph idx="11" type="ftr"/>
          </p:nvPr>
        </p:nvSpPr>
        <p:spPr>
          <a:xfrm>
            <a:off x="30492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stvari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42"/>
          <p:cNvSpPr txBox="1"/>
          <p:nvPr>
            <p:ph idx="10" type="dt"/>
          </p:nvPr>
        </p:nvSpPr>
        <p:spPr>
          <a:xfrm>
            <a:off x="467352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hr-H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lipnja 2023.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42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  <p:sp>
        <p:nvSpPr>
          <p:cNvPr id="306" name="Google Shape;306;p42"/>
          <p:cNvSpPr txBox="1"/>
          <p:nvPr>
            <p:ph idx="2" type="body"/>
          </p:nvPr>
        </p:nvSpPr>
        <p:spPr>
          <a:xfrm>
            <a:off x="6148800" y="1583640"/>
            <a:ext cx="5653800" cy="41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p42"/>
          <p:cNvPicPr preferRelativeResize="0"/>
          <p:nvPr/>
        </p:nvPicPr>
        <p:blipFill rotWithShape="1">
          <a:blip r:embed="rId3">
            <a:alphaModFix/>
          </a:blip>
          <a:srcRect b="-3050" l="-3430" r="3430" t="3050"/>
          <a:stretch/>
        </p:blipFill>
        <p:spPr>
          <a:xfrm>
            <a:off x="6148800" y="2093087"/>
            <a:ext cx="5473825" cy="308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3"/>
          <p:cNvSpPr txBox="1"/>
          <p:nvPr>
            <p:ph type="title"/>
          </p:nvPr>
        </p:nvSpPr>
        <p:spPr>
          <a:xfrm>
            <a:off x="283320" y="186840"/>
            <a:ext cx="9344400" cy="98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r-H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Korisnička aplikacija</a:t>
            </a:r>
            <a:endParaRPr/>
          </a:p>
        </p:txBody>
      </p:sp>
      <p:sp>
        <p:nvSpPr>
          <p:cNvPr id="313" name="Google Shape;313;p43"/>
          <p:cNvSpPr txBox="1"/>
          <p:nvPr>
            <p:ph idx="1" type="body"/>
          </p:nvPr>
        </p:nvSpPr>
        <p:spPr>
          <a:xfrm>
            <a:off x="302990" y="1583640"/>
            <a:ext cx="11586000" cy="41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/>
              <a:t>Komunikacija s ThingsBoard platformom</a:t>
            </a:r>
            <a:r>
              <a:rPr b="1" lang="hr-HR" sz="2000"/>
              <a:t> 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500"/>
              <a:t>- </a:t>
            </a:r>
            <a:r>
              <a:rPr lang="hr-HR" sz="1500"/>
              <a:t>Prijava na platformu i dohvaćanje JWT tokena.</a:t>
            </a:r>
            <a:br>
              <a:rPr lang="hr-HR" sz="1500"/>
            </a:b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500"/>
              <a:t>- JWT token koristi se za autorizaciju svih daljnjih zahtjeva.</a:t>
            </a:r>
            <a:br>
              <a:rPr lang="hr-HR" sz="1500"/>
            </a:b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-HR" sz="1500"/>
              <a:t>- Dohvat popisa registriranih uređaja.</a:t>
            </a:r>
            <a:br>
              <a:rPr lang="hr-HR" sz="1500"/>
            </a:b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-HR" sz="1500"/>
              <a:t>- Dohvat telemetrijskih podataka za odabrani uređaj.</a:t>
            </a:r>
            <a:br>
              <a:rPr lang="hr-HR" sz="1500"/>
            </a:b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-HR" sz="1500"/>
              <a:t>- Periodičko spremanje najnovijih telemetrijskih podataka u lokalnu bazu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